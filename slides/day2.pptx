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2286000" cy="566928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  ·  화요일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 + 클로드 코드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61188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원리와 리서치 에이전트를 이해하고, 과정 전반에 쓸 도구를 구축한다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315968"/>
            <a:ext cx="7772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담당 세션 (3)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10:00–11:30 · 90분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AI 에이전트 원리 + 리서치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13:00–14:20 · 80분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&amp; 클로드 코드 설치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754880"/>
            <a:ext cx="3429000" cy="1417320"/>
          </a:xfrm>
          <a:prstGeom prst="roundRect">
            <a:avLst/>
          </a:prstGeom>
          <a:solidFill>
            <a:srgbClr val="1B2B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90118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521208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14:30–16:00 · 90분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5504688"/>
            <a:ext cx="31089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클로드 코드 설정 + 플러그인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1 / 44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PROGRAM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전체 과정 로드맵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6366F1"/>
                </a:solidFill>
                <a:latin typeface="NanumSquare"/>
                <a:ea typeface="NanumSquare"/>
                <a:cs typeface="NanumSquare"/>
              </a:rPr>
              <a:t>DAY 1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월요일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원리와 이해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25496" y="2194560"/>
            <a:ext cx="2212848" cy="24688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08376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DAY 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E2E8F0"/>
                </a:solidFill>
                <a:latin typeface="NanumGothic"/>
                <a:ea typeface="NanumGothic"/>
                <a:cs typeface="NanumGothic"/>
              </a:rPr>
              <a:t>화요일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08376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에이전트 원리 + 클로드 코드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08376" y="4251960"/>
            <a:ext cx="184708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● 진행 중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48072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0952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DAY 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수요일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0952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미니 프로젝트 + 리서치 이론·팀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70648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53528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59E0B"/>
                </a:solidFill>
                <a:latin typeface="NanumSquare"/>
                <a:ea typeface="NanumSquare"/>
                <a:cs typeface="NanumSquare"/>
              </a:rPr>
              <a:t>DAY 4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목요일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53528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팀 리서치 — 기획·구현·실행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793224" y="2194560"/>
            <a:ext cx="2212848" cy="24688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76104" y="2395728"/>
            <a:ext cx="18470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F43F5E"/>
                </a:solidFill>
                <a:latin typeface="NanumSquare"/>
                <a:ea typeface="NanumSquare"/>
                <a:cs typeface="NanumSquare"/>
              </a:rPr>
              <a:t>DAY 5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금요일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6104" y="3246120"/>
            <a:ext cx="184708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실행·분석 + 보고서·발표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292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진행 단계: </a:t>
            </a:r>
            <a:r>
              <a:rPr sz="13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이론 → 도구 → 실전 → 결과 → 발표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 / 44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세션 구성 (3)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920240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20240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167128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066544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리서치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23744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agent = LLM+tools+loop / 리서치 에이전트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800" y="21579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10:00–11:30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2505456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01568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01568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7240" y="3648456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3648456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547872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&amp; Claude Code 설치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005072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Python(python.org) · Claude Code 설치·인증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29800" y="36393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13:00–14:20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800" y="3986784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80분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82896"/>
            <a:ext cx="11155680" cy="12801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4882896"/>
            <a:ext cx="128016" cy="128016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77240" y="5129784"/>
            <a:ext cx="566928" cy="56692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5129784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02920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5486400"/>
            <a:ext cx="8138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</a:t>
            </a:r>
            <a:r>
              <a:rPr sz="12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기본 설정 · oh-my-claudecode 플러그인 · 워크플로우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512064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14:30–16:00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5468112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90분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 / 44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오전 특강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10:00–11:30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에이전트의 정의·구조·자율성과, 리서치 에이전트의 전체 구조를 이해한다.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4 / 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오전 특강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 원리와 이해 + AI 에이전트 기반 리서치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11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AI 에이전트란 무엇인가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 vs 에이전트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핵심 루프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도구(tools)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메모리와 컨텍스트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53212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65099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65099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53212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자율성의 스펙트럼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개념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워크플로우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역할 변화·주의점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364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64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개요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0" y="4855464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364224" y="497433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64224" y="497433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1152" y="4855464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과학·신약 사례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5 / 44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학습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이 세션에서 다룰 것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에이전트의 정의와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 + 도구(tools) + 반복(loop)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바이브코딩 작업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자연어로 만들고, 검증하며 반복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에이전트의 큰 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이번 주 팀 프로젝트의 형태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6 / 44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LLM(두뇌) + 도구(tools) + 반복 루프(loop)로 목표를 수행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LLM과의 차이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답만 내는 게 아니라 '행동'하고 결과를 보고 다음 행동을 결정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검색 → 읽기 → 코드 실행 → 수정을 스스로 반복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Code(코드 읽기→수정→테스트→반복) · Claude Computer use(화면 보고 클릭, 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에이전트는 답을 내는 데 그치지 않고 직접 '행동'한다는 점이 LLM과의 핵심 차이다.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7 / 44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LLM vs 에이전트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LLM 단독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입력→출력 한 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 없음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기억 없음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사용자가 매번 지시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에이전트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주면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도구를 골라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상태·기억 유지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스스로 반복·판단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8 / 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핵심 루프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에이전트의 동작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상황·이전 결과 파악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다음에 무엇을 할지 결정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행동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도구 호출(검색·실행)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관찰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확인 → 반복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목표를 달성할 때까지 이 루프를 반복하며,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9 / 44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관찰 (Observe)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상황과 이전 행동의 결과를 파악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 에이전트가 테스트 실행 결과(통과/실패)를 읽음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다음 판단의 근거가 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10 / 44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사고 (Think)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관찰을 바탕으로 다음에 무엇을 할지 결정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'테스트가 실패했으니 이 함수를 고쳐야겠다'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여기서 어떤 도구를 쓸지도 결정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11 / 44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행동 (Act)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결정한 도구를 실제로 호출·실행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 수정 · 코드 실행 · 웹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결과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환경이 바뀌고 새 결과가 나옴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12 / 44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루프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반복 (Loop)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행동 결과를 다시 관찰 → 사고 → 행동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멈춤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 달성 또는 한계 도달까지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번의 응답이 아니라 '여러 수'를 두는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이 반복 구조가 LLM과 에이전트를 구분하는 핵심이다.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13 / 44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도구(tools) — 에이전트의 손과 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호출하는 외부 기능 — 웹검색·파일·코드실행·API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필요한가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LLM의 한계(최신성·계산·실행)를 실제 행동으로 보완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동작 방식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LLM이 '어떤 도구를 어떤 인자로' 호출할지 결정 → 결과를 다시 입력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ChatGPT Search — LLM이 스스로 검색 쿼리를 만들어 웹 검색 후 출처 인용(2024)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도구는 최신성·계산·실행과 같은 LLM의 한계를 보완한다.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14 / 44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메모리와 컨텍스트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단기 (컨텍스트)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현재 작업 맥락 — 컨텍스트 윈도우 안에 유지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장기 (외부 메모리)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파일·DB·벡터스토어에 저장해 필요할 때 검색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긴 작업의 일관성 유지 · 맥락 한계 극복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15 / 44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스펙트럼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자율성의 정도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보조형 (copilot)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사람이 매 단계 확인·승인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반자율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일상 작업은 자동, 중요한 결정만 사람이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목표만 주면 스스로 — 강력하지만 검증·안전장치 필수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 스펙트럼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GitHub Copilot(보조) → Copilot Workspace(반자율) → Devin(완전자율)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높아질수록 검증과 안전장치의 중요성도 함께 커진다.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16 / 44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(Vibe Coding)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코드를 직접 타이핑하지 않고, 자연어로 의도를 전달해 만든다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무엇을·왜를 명확히 + 결과를 검증하고 방향 제시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빠른 반복 + 반드시 검증 (출력을 그대로 신뢰 금물)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용어 기원 Karpathy(2025.2) · Fly.Pieter.com — 1인이 프롬프트로 ~3시간 만에 비행게임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성공 사례는 생존 편향이 크며, 바이브코딩 결과물은 검증·보안·유지보수 측면에서 취약할 수 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17 /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바이브코딩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바이브코딩 사이클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의도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원하는 것을 구체적으로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753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7185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7185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0901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901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901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구현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6646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078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4078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794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794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794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실제로 돌려 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35390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9710" y="2651760"/>
            <a:ext cx="2548890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09710" y="2651760"/>
            <a:ext cx="2548890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46870" y="2944368"/>
            <a:ext cx="227457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46870" y="3310128"/>
            <a:ext cx="22745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검증·수정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6870" y="3822192"/>
            <a:ext cx="227457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 보고 다시 지시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한 번에 크게 시도하기보다 작은 단위로 반복하는 것이 핵심이며, 이어서 각 단계를 차례로 살펴본다.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18 / 44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의도 전달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만들고 싶은 것을 구체적으로 전달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'CSV를 항목별로 합산해 표로 출력하는 스크립트'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목표·입력·출력·제약을 분명히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19 / 44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생성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에이전트가 코드를 작성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사람의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타이핑이 아니라 방향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주의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한 번에 큰 덩어리보다 작은 기능 단위로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20 / 44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만든 것을 실제로 돌려본다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스크립트 실행 → 결과 표 확인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'된다고 말함'이 아니라 '되는 것을 봄'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21 / 44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사이클 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검증·수정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결과를 보고 틀린 점·부족한 점을 다시 지시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'합계가 틀렸어, 빈 칸을 0으로 처리해줘'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반복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만족할 때까지 ①~④ 반복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 없는 반복은 위험하므로, 사람이 매 단계의 결과를 직접 확인해야 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22 / 44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태도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사람의 역할 변화 · 주의점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작성자 → 디렉터·검수자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타이핑보다 '무엇을 만들지'와 '맞는지' 판단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검증을 습관화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동작·정확성을 직접 확인 — AI는 틀릴 수 있다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오후 실습에서 체험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Code로 직접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실패 사례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Replit AI가 '코드 동결' 지시 어기고 운영 DB 삭제(2025.7)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자율성이 높아질수록 위험도 커지므로, 사람의 승인과 백업, 검증이 반드시 필요하다.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23 / 44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개괄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리서치 에이전트 개요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무엇을 알고 싶나 — 질문 분해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23744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98064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98064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35224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35224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소스에서 수집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93208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93208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8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8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368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출처·신뢰도 교차확인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14032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25512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5512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종합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25512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근거를 묶어 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154680"/>
            <a:ext cx="2743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83496" y="2651760"/>
            <a:ext cx="1975104" cy="1737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683496" y="2651760"/>
            <a:ext cx="1975104" cy="109728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0656" y="2944368"/>
            <a:ext cx="17007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20656" y="3310128"/>
            <a:ext cx="170078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보고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0656" y="3822192"/>
            <a:ext cx="17007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출처와 함께 정리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2920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502920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자세한 이론과 구현은 3~4일차에 다루며, 오늘은 전체 틀만 이해한다.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24 / 44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과학·신약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AI 에이전트가 바꾸는 연구·신약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AlphaFold (2024 노벨화학상)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서열→단백질 3D 구조 예측, ~2억 구조 무료 공개 — 신약 직결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Insilico Medicine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생성형 AI로 설계한 신약(IPF 치료제) 임상 Phase IIa (초기·미승인)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Google 'AI co-scientist'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가설 생성 멀티에이전트 — 단, 과학자 다수 회의적(과장 주의)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1713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3484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Deep Research (OpenAI·Gemini·Claude)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문헌 검색→검증→종합→인용 — 문헌고찰 보조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신약 개발·문헌고찰의 기회와 과장된 사례를 함께 살펴보되, AI의 출력은 반드시 사람이 검증해야 한다.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25 / 44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1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13:00–14:20 · 80분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Python · Node.js · Claude Code 설치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프로젝트용 Python, Node.js 24, 실습 도구 Claude Code를 각자 노트북에 설치하고 동작을 확인한다.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26 / 44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1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· Node.js · Claude 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80분 · 7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전 체크리스트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 (Win/Mac)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 &amp; 트러블슈팅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29768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29768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178808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Node.js 24 설치 (Win/Mac)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148840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364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64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2148840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(Win/Mac)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825496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64224" y="294436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294436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2825496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로그인 &amp; 첫 실행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502152"/>
            <a:ext cx="5440680" cy="56692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364224" y="362102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4224" y="362102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502152"/>
            <a:ext cx="4572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27 / 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준비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전 체크리스트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오늘 설치할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Python + Node.js 24 + Claude Code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대상 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Windows / macOS 만 (Win=PowerShell · Mac=Terminal)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계정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구독(Pro/Max) 또는 Anthropic Console 계정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28 / 44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Python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python.org 공식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python.org 설치 파일 다운로드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'Add python.exe to PATH' 체크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 --version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PowerShell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.pkg 다운로드 → 설치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★ 'Install Certificates' 실행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python3 --version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터미널: Terminal(zsh)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29 / 44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설치 확인 &amp; 트러블슈팅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Win: python --version · pip --version  /  Mac: python3 · pip3 --version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Windows 문제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PATH 미설정 → 설치 관리자 'Modify'에서 PATH 추가 후 터미널 재시작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macOS 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SSL 오류 → 'Install Certificates.command' 실행 · 명령은 python3 사용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대안으로 빠른 최신 도구인 uv나 데이터 패키지를 한 번에 제공하는 Anaconda를 선택할 수도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30 / 44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Node.js 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nodejs.org 공식 설치 (v24)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nodejs.org에서 Node.js 24 설치 파일(.msi)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기본값으로 설치 (npm 포함·PATH 자동)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node --version (v24.x)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npm --version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3520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nodejs.org .pkg 또는 brew install node@24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npm 포함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node --version (v24.x)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npm --version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Code의 npm 설치와 oh-my-claudecode 등 일부 도구가 Node.js를 사용하므로 함께 설치한다.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31 / 44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설치 — OS별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Windows (PowerShell)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irm https://claude.ai/install.ps1 | iex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npm i -g @anthropic-ai/claude-code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WSL 없이 네이티브로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macOS (Terminal)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curl -fsSL https://claude.ai/install.sh | bash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또는 brew install --cask claude-code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자동 업데이트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확인: claude --version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32 / 44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인증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 Code 로그인 &amp; 첫 실행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claude  입력 → 브라우저 OAuth 로그인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인증 방식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구독 로그인  또는  Console(API 과금)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브라우저가 안 열리면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터미널에서  c  눌러 URL 복사 → 직접 붙여넣기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33 / 44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Python · Node.js · Claude Code 설치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설치·확인 (Win: PATH 체크 / Mac: 인증서)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Node.js 24 설치·확인 (node --version)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Code 설치 (Win: PowerShell / Mac: curl·brew)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 실행 → 로그인 → /help 확인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Python · Node.js 24 · Claude Code 실행·로그인 완료
문제 시 진단: claude doctor
(설치 완료 화면 캡처 삽입)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34 / 44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0312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오후 특강 2</a:t>
            </a:r>
            <a:r>
              <a:rPr sz="1300" b="1">
                <a:solidFill>
                  <a:srgbClr val="94A3B8"/>
                </a:solidFill>
                <a:latin typeface="NanumGothic"/>
                <a:ea typeface="NanumGothic"/>
                <a:cs typeface="NanumGothic"/>
              </a:rPr>
              <a:t>   14:30–16:00 · 90분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269748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기본 설정과 CLAUDE.md를 잡고, oh-my-claudecode 플러그인으로 작업 환경을 확장한다.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023360"/>
            <a:ext cx="91440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CBD5E1"/>
                </a:solidFill>
                <a:latin typeface="NanumGothic"/>
                <a:ea typeface="NanumGothic"/>
                <a:cs typeface="NanumGothic"/>
              </a:rPr>
              <a:t>   ·   35 / 44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오후 특강 2 · 세션 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클로드 코드 설치 및 주요 설정 (2) — 설정 &amp; 플러그인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12680" y="457200"/>
            <a:ext cx="1691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12680" y="457200"/>
            <a:ext cx="16916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90분 · 6 파트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6916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이 세션에서 다룰 내용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9224" y="226771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226771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152" y="214884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무엇을 설정하나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862072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9224" y="2980944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" y="2980944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16152" y="2862072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 · 권한 · 모델)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575304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49224" y="3694176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" y="3694176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6152" y="3575304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4288536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9224" y="4407408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4407408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6152" y="4288536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플러그인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001768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49224" y="5120640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120640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16152" y="5001768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핵심 커맨드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715000"/>
            <a:ext cx="11155680" cy="60350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9224" y="5833872"/>
            <a:ext cx="384048" cy="384048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833872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16152" y="5715000"/>
            <a:ext cx="102870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설치 &amp; 샘플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36 / 44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무엇을 설정하나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40680" cy="640080"/>
          </a:xfrm>
          <a:prstGeom prst="round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기본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effort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권한(allow/ask/deny)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CLAUDE.md (프로젝트 규칙)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슬래시 커맨드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28800"/>
            <a:ext cx="54406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1828800"/>
            <a:ext cx="5440680" cy="64008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828800"/>
            <a:ext cx="4937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플러그인 (확장)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69748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멀티 에이전트 오케스트레이션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3831336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/plugin install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398264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2203C"/>
                </a:solidFill>
                <a:latin typeface="NanumGothic"/>
                <a:ea typeface="NanumGothic"/>
                <a:cs typeface="NanumGothic"/>
              </a:rPr>
              <a:t>•  </a:t>
            </a: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· /team 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37 / 44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기본 설정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settings.json &amp; 권한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설정 파일 위치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~/.claude/settings.json (전역) · .claude/settings.json (프로젝트)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권한 (permissions)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ask(기본) · allow(미리 허용) · deny(차단) — 예: "Bash(git *)"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모델 · 커맨드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/model 로 모델 변경 · /config · /help · /clear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38 / 44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규칙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CLAUDE.md — 프로젝트 규칙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매 세션 자동 적용되는 프로젝트 규칙·명령어·컨벤션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생성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/init 로 자동 생성한 뒤 편집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위치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프로젝트 루트 ./CLAUDE.md (전역은 ~/.claude/CLAUDE.md)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39 / 44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플러그인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란?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무엇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Claude Code용 멀티 에이전트 오케스트레이션 플러그인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전문 에이전트들을 조율해 복잡한 작업을 자동화 — 'zero learning curve'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구성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여러 슬래시 커맨드 + 전문 에이전트(executor·planner·reviewer 등)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532120"/>
            <a:ext cx="11155680" cy="658368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NOTE   </a:t>
            </a:r>
            <a:r>
              <a:rPr sz="13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공식 저장소는 github.com/yeachan-heo/oh-my-claudecode 에서 확인할 수 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40 / 44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설치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oh-my-claudecode 설치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① 마켓플레이스 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marketplace add https://github.com/Yeachan-Heo/oh-my-claudecode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② 설치 &amp; 셋업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/plugin install oh-my-claudecode  →  /omc-setup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사전 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team 기능엔 tmux 필요 (brew/apt install tmux)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41 / 44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커맨드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커맨드 둘러보기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191109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8288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/autopilot "..."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1284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아이디어 → 동작 코드까지 자율 실행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77977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69748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/team · /ralph · /ultrawork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다중 에이전트 협업 · 완료까지 지속 · 병렬 처리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648456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56616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/plan · /ask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9502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전략 기획 · 외부 모델(codex·gemini)로 교차검토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42 / 44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LAB ·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설정 &amp; 플러그인 실습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783080"/>
            <a:ext cx="7315200" cy="41605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실습 단계</a:t>
            </a:r>
          </a:p>
        </p:txBody>
      </p:sp>
      <p:sp>
        <p:nvSpPr>
          <p:cNvPr id="10" name="Oval 9"/>
          <p:cNvSpPr/>
          <p:nvPr/>
        </p:nvSpPr>
        <p:spPr>
          <a:xfrm>
            <a:off x="777240" y="2468880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46888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487168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기본 설정 (settings.json · 권한)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035808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35808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054096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/init 로 CLAUDE.md 생성·편집</a:t>
            </a:r>
          </a:p>
        </p:txBody>
      </p:sp>
      <p:sp>
        <p:nvSpPr>
          <p:cNvPr id="16" name="Oval 15"/>
          <p:cNvSpPr/>
          <p:nvPr/>
        </p:nvSpPr>
        <p:spPr>
          <a:xfrm>
            <a:off x="777240" y="3602736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602736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621024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oh-my-claudecode 설치 (/plugin → /omc-setup)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4169664"/>
            <a:ext cx="411480" cy="411480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69664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NanumSquare"/>
                <a:ea typeface="NanumSquare"/>
                <a:cs typeface="NanumSquare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187952"/>
            <a:ext cx="6309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샘플 작업 1회전 (예: /autopilot 간단 작업)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1783080"/>
            <a:ext cx="3657600" cy="4160520"/>
          </a:xfrm>
          <a:prstGeom prst="round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116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산출물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560320"/>
            <a:ext cx="31546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anumGothic"/>
                <a:ea typeface="NanumGothic"/>
                <a:cs typeface="NanumGothic"/>
              </a:rPr>
              <a:t>설정 완료 + 플러그인 설치된 작업 환경
예시: examples/claude-setup (settings.json · CLAUDE.md)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43 / 44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111556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>
                <a:solidFill>
                  <a:srgbClr val="0F172A"/>
                </a:solidFill>
                <a:latin typeface="NanumSquare"/>
                <a:ea typeface="NanumSquare"/>
                <a:cs typeface="NanumSquare"/>
              </a:rPr>
              <a:t>핵심 정리 및 다음 과정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21207" y="1417320"/>
            <a:ext cx="1005840" cy="45720"/>
          </a:xfrm>
          <a:prstGeom prst="rect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19088"/>
            <a:ext cx="73152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신약 개발을 위한 AI Agent 특강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83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0EA5E9"/>
                </a:solidFill>
                <a:latin typeface="NanumSquare"/>
                <a:ea typeface="NanumSquare"/>
                <a:cs typeface="NanumSquare"/>
              </a:rPr>
              <a:t>핵심 정리</a:t>
            </a:r>
          </a:p>
        </p:txBody>
      </p:sp>
      <p:sp>
        <p:nvSpPr>
          <p:cNvPr id="9" name="Oval 8"/>
          <p:cNvSpPr/>
          <p:nvPr/>
        </p:nvSpPr>
        <p:spPr>
          <a:xfrm>
            <a:off x="566928" y="235915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28600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에이전트 = LLM + tools + loop, 자율성에는 스펙트럼이 있다</a:t>
            </a:r>
          </a:p>
        </p:txBody>
      </p:sp>
      <p:sp>
        <p:nvSpPr>
          <p:cNvPr id="11" name="Oval 10"/>
          <p:cNvSpPr/>
          <p:nvPr/>
        </p:nvSpPr>
        <p:spPr>
          <a:xfrm>
            <a:off x="566928" y="299923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92608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리서치 에이전트 = 질문→검색→검증→종합→보고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3639312"/>
            <a:ext cx="146304" cy="146304"/>
          </a:xfrm>
          <a:prstGeom prst="ellipse">
            <a:avLst/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66160"/>
            <a:ext cx="6400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Python + Claude Code 설치, oh-my-claudecode 플러그인으로 작업 환경 완성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0" y="1783080"/>
            <a:ext cx="4069080" cy="4023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2011680"/>
            <a:ext cx="3566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NanumSquare"/>
                <a:ea typeface="NanumSquare"/>
                <a:cs typeface="NanumSquare"/>
              </a:rPr>
              <a:t>다음 과정 — Day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606040"/>
            <a:ext cx="3520440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0F172A"/>
                </a:solidFill>
                <a:latin typeface="NanumGothic"/>
                <a:ea typeface="NanumGothic"/>
                <a:cs typeface="NanumGothic"/>
              </a:rPr>
              <a:t>세팅한 도구로 실생활 미니 프로젝트를 기획·개발하고, 리서치 프로세스 이론을 배운 뒤 팀과 주제를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6419088"/>
            <a:ext cx="2697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0EA5E9"/>
                </a:solidFill>
                <a:latin typeface="NanumGothic"/>
                <a:ea typeface="NanumGothic"/>
                <a:cs typeface="NanumGothic"/>
              </a:rPr>
              <a:t>Day 2 · 화</a:t>
            </a:r>
            <a:r>
              <a:rPr sz="900" b="1">
                <a:solidFill>
                  <a:srgbClr val="64748B"/>
                </a:solidFill>
                <a:latin typeface="NanumGothic"/>
                <a:ea typeface="NanumGothic"/>
                <a:cs typeface="NanumGothic"/>
              </a:rPr>
              <a:t>   ·   44 / 44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