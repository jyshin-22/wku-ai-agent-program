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371600"/>
            <a:ext cx="2286000" cy="566928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2286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4  ·  목요일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팀별 리서치 AI Agent — 기획·구현·실행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팀 주제로 리서치 에이전트를 설계·구현하고, 실행하며 결과를 분석한다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31596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담당 세션 (3)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오전 특강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10:00–11:30 · 90분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기획 및 구현 (팀)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오후 특강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13:00–14:20 · 80분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실행 및 결과 분석 (1)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4754880"/>
            <a:ext cx="3429000" cy="1417320"/>
          </a:xfrm>
          <a:prstGeom prst="roundRect">
            <a:avLst/>
          </a:prstGeom>
          <a:solidFill>
            <a:srgbClr val="1B2B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4901184"/>
            <a:ext cx="3108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오후 특강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5212080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14:30–16:00 · 90분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5504688"/>
            <a:ext cx="310896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실행 및 결과 분석 (2)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PROGRAM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전체 과정 로드맵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6366F1"/>
                </a:solidFill>
                <a:latin typeface="NanumSquare"/>
                <a:ea typeface="NanumSquare"/>
                <a:cs typeface="NanumSquare"/>
              </a:rPr>
              <a:t>DAY 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월요일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LLM 원리와 이해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25496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08376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EA5E9"/>
                </a:solidFill>
                <a:latin typeface="NanumSquare"/>
                <a:ea typeface="NanumSquare"/>
                <a:cs typeface="NanumSquare"/>
              </a:rPr>
              <a:t>DAY 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화요일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8376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에이전트 원리 + 클로드 코드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48072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0B981"/>
                </a:solidFill>
                <a:latin typeface="NanumSquare"/>
                <a:ea typeface="NanumSquare"/>
                <a:cs typeface="NanumSquare"/>
              </a:rPr>
              <a:t>DAY 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수요일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2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미니 프로젝트 + 리서치 이론·팀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70648" y="2194560"/>
            <a:ext cx="2212848" cy="24688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53528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DAY 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E2E8F0"/>
                </a:solidFill>
                <a:latin typeface="NanumGothic"/>
                <a:ea typeface="NanumGothic"/>
                <a:cs typeface="NanumGothic"/>
              </a:rPr>
              <a:t>목요일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53528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팀 리서치 — 기획·구현·실행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3528" y="4251960"/>
            <a:ext cx="184708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● 진행 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93224" y="2194560"/>
            <a:ext cx="2212848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76104" y="2395728"/>
            <a:ext cx="184708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DAY 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금요일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76104" y="3246120"/>
            <a:ext cx="184708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실행·분석 + 보고서·발표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2920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진행 단계: </a:t>
            </a:r>
            <a:r>
              <a:rPr sz="13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이론 → 도구 → 실전 → 결과 → 발표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세션 구성 (3)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920240"/>
            <a:ext cx="12801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77240" y="2167128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2066544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리서치 AI Agent 기획 및 구현 (팀)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23744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오전 특강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설계를 코드로 — MVP에서 검증·확장까지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29800" y="21579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10:00–11:30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29800" y="2505456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401568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401568"/>
            <a:ext cx="12801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77240" y="3648456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4845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547872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리서치 AI Agent 실행 및 결과 분석 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05072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오후 특강 1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1차 실행·반복 개선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36393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13:00–14:20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986784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80분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882896"/>
            <a:ext cx="11155680" cy="1280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4882896"/>
            <a:ext cx="128016" cy="12801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129784"/>
            <a:ext cx="566928" cy="56692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12978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029200"/>
            <a:ext cx="8138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리서치 AI Agent 실행 및 결과 분석 (2)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486400"/>
            <a:ext cx="8138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오후 특강 2 · </a:t>
            </a:r>
            <a:r>
              <a:rPr sz="12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결과 평가·개선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9800" y="5120640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14:30–16:00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29800" y="546811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90분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오전 특강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10:00–11:30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팀별 리서치 AI Agent — 기획 및 구현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팀 주제 발표·강사 피드백으로 방향을 확정하고, 리서치 에이전트를 설계·구현한다.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오전 특강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리서치 AI Agent — 기획 및 구현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6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주제 발표 + 강사 피드백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3세션 스코프 — 무엇을 만드나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에이전트 설계 정리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88536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" y="440740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407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8536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최소 동작(MVP) 원칙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001768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" y="5120640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" y="512064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001768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구현① 기본 흐름·검색(corpus)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71500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9224" y="583387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" y="583387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71500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구현② 검증·종합·보고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발표+피드백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주제 발표 → 강사 피드백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팀별 짧은 발표 (~2분)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주제 · 선정 이유 · 핵심 질문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강사 직접 피드백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스코프 적정? · 핵심질문 명확? · corpus 확보?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피드백대로 스코프·질문 조정 후 빌드 시작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방향을 확정하고 만들기 시작 — 빌드 전 점검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스코프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3세션 안에 만들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질문 → 검색(로컬 corpus) → 검증 → 종합 → 인용 보고서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스코프 제한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corpus 기반 — 오픈 웹 크롤링·벡터DB 불필요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완주 기준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Day 4 끝 = 핵심 질문에 답하는 1~2장 인용 보고서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5532120"/>
            <a:ext cx="11155680" cy="658368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5321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NOTE   </a:t>
            </a:r>
            <a:r>
              <a:rPr sz="13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작게 만들고 키운다 — 욕심내지 말 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기획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 에이전트 설계 정리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주제·핵심 질문 재확인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Day 3 기획서 기반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corpus 확인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어떤 문서 폴더에서 검색하나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산출물 형태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인용 보고서 구조 합의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최소 동작부터 (MVP)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가장 단순한 흐름 먼저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질문 → 검색 → 요약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동작 확인 후 확장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검증·인용 추가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중간 산출물 자주 확인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방향 점검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구현 ① — 기본 흐름 &amp; 검색(로컬 corpus)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기본 흐름(질문→검색→요약)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corpus 폴더 검색 연결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MVP 1회 동작 확인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소규모 테스트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동작하는 리서치 에이전트 MVP
구조: examples/research-agent 참고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구현 ② — 검증 &amp; 종합·보고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검증 로직(출처·교차확인)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종합 → 인용 보고서 생성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상충·불확실성 표기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구성도 정리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검증·인용 보고서까지 되는 에이전트 v1
구조: examples/research-agent 참고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오후 특강 1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13:00–14:20 · 80분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팀별 리서치 AI Agent — 실행 및 결과 분석 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팀 주제로 1차 실행하고, 결과를 관찰하며 반복 개선한다.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오후 특강 1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리서치 AI Agent — 실행 및 결과 분석 (1)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80분 · 3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실행·반복 개선 방식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1차 실행(실습)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1차 결과 점검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진행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실행 &amp; 반복 개선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실제 질문으로 구동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팀 주제 투입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결과 관찰 → 프롬프트·구조 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iteration 루프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실패 사례 기록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분석의 재료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1차 실행 실습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주제로 1차 실행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출력 점검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파라미터·프롬프트 조정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재실행 &amp;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1차 실행 로그 + 결과물
실행 기록: run-log-template.md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점검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1차 결과 빠른 점검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정확성·출처는?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근거 확인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빠진 내용은?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커버리지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다음 개선 포인트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(2)세션으로 연결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03120"/>
            <a:ext cx="8229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오후 특강 2</a:t>
            </a:r>
            <a:r>
              <a:rPr sz="1300" b="1">
                <a:solidFill>
                  <a:srgbClr val="94A3B8"/>
                </a:solidFill>
                <a:latin typeface="NanumGothic"/>
                <a:ea typeface="NanumGothic"/>
                <a:cs typeface="NanumGothic"/>
              </a:rPr>
              <a:t>   14:30–16:00 · 90분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69748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팀별 리서치 AI Agent — 실행 및 결과 분석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BD5E1"/>
                </a:solidFill>
                <a:latin typeface="NanumGothic"/>
                <a:ea typeface="NanumGothic"/>
                <a:cs typeface="NanumGothic"/>
              </a:rPr>
              <a:t>평가 기준으로 결과를 분석하고, 개선 방향을 도출해 재실행한다.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91440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오후 특강 2 · 세션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팀별 리서치 AI Agent — 실행 및 결과 분석 (2)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12680" y="457200"/>
            <a:ext cx="1691640" cy="4572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12680" y="457200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90분 · 4 파트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69164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이 세션에서 다룰 내용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148840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9224" y="2267712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" y="226771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148840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결과 평가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862072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2980944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" y="298094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862072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정확성·출처 / 누락·편향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575304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9224" y="369417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575304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품질 vs 개선 방향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88536"/>
            <a:ext cx="11155680" cy="60350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" y="4407408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" y="440740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8536"/>
            <a:ext cx="102870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재실행·분석(실습)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관점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결과를 평가한다는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좋다/나쁘다를 근거로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감이 아니라 기준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무엇을 볼 것인가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정확성·완전성·재현성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개선으로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재실행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기준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정확성·출처 / 누락·편향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91109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주장에 근거가 있는가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1284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출처 확인·신뢰도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277977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697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빠진 관점·편향은 없나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08152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커버리지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648456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6616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불확실성은 표기됐나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950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한계 명시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품질 점검 vs 개선 방향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5440680" cy="640080"/>
          </a:xfrm>
          <a:prstGeom prst="round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품질 점검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정확성·출처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누락·편향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재현성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일관성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828800"/>
            <a:ext cx="54406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200" y="1828800"/>
            <a:ext cx="5440680" cy="64008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828800"/>
            <a:ext cx="4937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개선 방향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6974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프롬프트 보완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검증 강화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83133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범위 조정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98264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2203C"/>
                </a:solidFill>
                <a:latin typeface="NanumGothic"/>
                <a:ea typeface="NanumGothic"/>
                <a:cs typeface="NanumGothic"/>
              </a:rPr>
              <a:t>•  </a:t>
            </a: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출처 확대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LAB ·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재실행 &amp; 결과 분석 → 최종 확정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7315200" cy="4160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실습 단계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46888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6888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487168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개선 항목 반영·재실행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035808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035808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054096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강점/약점·한계 표 정리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3602736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02736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621024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발표 후보 결과 선별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169664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69664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NanumSquare"/>
                <a:ea typeface="NanumSquare"/>
                <a:cs typeface="NanumSquare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187952"/>
            <a:ext cx="6309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최종 결과 확정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1783080"/>
            <a:ext cx="3657600" cy="4160520"/>
          </a:xfrm>
          <a:prstGeom prst="round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201168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산출물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560320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NanumGothic"/>
                <a:ea typeface="NanumGothic"/>
                <a:cs typeface="NanumGothic"/>
              </a:rPr>
              <a:t>최종 결과물 + 분석 노트(강점·약점·개선점)
에이전트 완주! → 분석: result-analysis-template.md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13232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0F172A"/>
                </a:solidFill>
                <a:latin typeface="NanumSquare"/>
                <a:ea typeface="NanumSquare"/>
                <a:cs typeface="NanumSquare"/>
              </a:rPr>
              <a:t>핵심 정리 및 다음 과정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417320"/>
            <a:ext cx="1005840" cy="457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19088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NanumGothic"/>
                <a:ea typeface="NanumGothic"/>
                <a:cs typeface="NanumGothic"/>
              </a:rPr>
              <a:t>AI 에이전트와 응용  ·  원광대학교 5일 교육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19088"/>
            <a:ext cx="14630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>
                <a:solidFill>
                  <a:srgbClr val="F59E0B"/>
                </a:solidFill>
                <a:latin typeface="NanumGothic"/>
                <a:ea typeface="NanumGothic"/>
                <a:cs typeface="NanumGothic"/>
              </a:rPr>
              <a:t>Day 4 · 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59E0B"/>
                </a:solidFill>
                <a:latin typeface="NanumSquare"/>
                <a:ea typeface="NanumSquare"/>
                <a:cs typeface="NanumSquare"/>
              </a:rPr>
              <a:t>핵심 정리</a:t>
            </a:r>
          </a:p>
        </p:txBody>
      </p:sp>
      <p:sp>
        <p:nvSpPr>
          <p:cNvPr id="10" name="Oval 9"/>
          <p:cNvSpPr/>
          <p:nvPr/>
        </p:nvSpPr>
        <p:spPr>
          <a:xfrm>
            <a:off x="566928" y="23591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팀 에이전트를 MVP → 검증·종합(인용 보고서) 순으로 3세션 안에 완주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299923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9260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실행은 한 번이 아니라 반복(iteration)이다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63931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56616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결과는 근거를 갖고 평가 — 강점·약점·개선점 정리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1783080"/>
            <a:ext cx="4069080" cy="4023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011680"/>
            <a:ext cx="3566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43F5E"/>
                </a:solidFill>
                <a:latin typeface="NanumSquare"/>
                <a:ea typeface="NanumSquare"/>
                <a:cs typeface="NanumSquare"/>
              </a:rPr>
              <a:t>다음 과정 — Day 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06040"/>
            <a:ext cx="352044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0F172A"/>
                </a:solidFill>
                <a:latin typeface="NanumGothic"/>
                <a:ea typeface="NanumGothic"/>
                <a:cs typeface="NanumGothic"/>
              </a:rPr>
              <a:t>실행·분석을 마무리하고, AI 에이전트로 보고서·발표자료를 만들어 팀별로 발표합니다.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