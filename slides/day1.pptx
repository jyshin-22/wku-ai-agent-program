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2286000" cy="566928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1  ·  월요일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LLM의 원리와 이해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611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AI 에이전트의 핵심인 LLM의 작동 원리·프롬프트·한계를 이해한다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31596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담당 세션 (1)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오후 특강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14:30–16:00 · 90분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LLM의 원리와 이해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PROGRAM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전체 과정 로드맵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94560"/>
            <a:ext cx="2212848" cy="246888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E2E8F0"/>
                </a:solidFill>
                <a:latin typeface="NanumGothic"/>
                <a:ea typeface="NanumGothic"/>
                <a:cs typeface="NanumGothic"/>
              </a:rPr>
              <a:t>월요일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LLM 원리와 이해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251960"/>
            <a:ext cx="18470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● 진행 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25496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08376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DAY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화요일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08376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원리 + 클로드 코드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48072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30952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DAY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수요일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0952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미니 프로젝트 + 리서치 이론·팀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70648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53528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DAY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목요일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3528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리서치 — 기획·구현·실행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93224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76104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DAY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금요일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76104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실행·분석 + 보고서·발표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0292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진행 단계: </a:t>
            </a:r>
            <a:r>
              <a:rPr sz="13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이론 → 도구 → 실전 → 결과 → 발표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오후 특강 2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14:30–16:00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LLM의 원리와 이해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LLM이 무엇을 어떻게 하는지 — 토큰 예측·학습·프롬프트·한계를 이해한다.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오후 특강 2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LLM의 원리와 이해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11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언어 모델 간단 역사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44368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LLM이란 + 토큰·예측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21024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학습: 사전학습 · 정렬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9224" y="4297680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6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추론(사고) 모델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855464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9224" y="4974336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49743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16152" y="4855464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임베딩 &amp; 의미 검색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53212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9224" y="5650992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" y="565099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16152" y="553212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RAG — 검색 증강 생성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64224" y="2267712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64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1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프롬프트 엔지니어링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17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364224" y="2944368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64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31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생성 제어 · 컨텍스트 윈도우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17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364224" y="3621024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64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31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능력과 한계 · 환각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17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364224" y="4297680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64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31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모델 선택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17920" y="4855464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364224" y="4974336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64224" y="49743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31152" y="4855464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→ 에이전트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학습 목표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이 세션에서 다룰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LLM의 작동 원리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토큰 예측 · 학습 · 추론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외부 지식과 결합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임베딩·의미 검색·RAG → 리서치 에이전트의 토대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제어와 한계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프롬프트 · 모델 선택 · 환각 등 주의점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역사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언어 모델 간단 역사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651760"/>
            <a:ext cx="197510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word2vec (2013)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단어를 벡터로 — 임베딩 시작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23744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98064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98064" y="2651760"/>
            <a:ext cx="197510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35224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5224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Transformer (2017)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35224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'Attention is All You Need' — 현대 LLM 구조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18888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93208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93208" y="2651760"/>
            <a:ext cx="197510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30368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GPT·BERT (2018~)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사전학습 대형화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88352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88352" y="2651760"/>
            <a:ext cx="197510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25512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25512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GPT-3→ChatGPT (2020·2022)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25512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규모 + 정렬로 대중화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09176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83496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83496" y="2651760"/>
            <a:ext cx="197510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20656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0656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추론·멀티모달 (2024~)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20656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o1·DeepSeek-R1 등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초기 통계(n-gram) → 신경망 → Transformer로 도약 — 이제 각 단계를 하나씩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역사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word2vec (2013) — 단어를 벡터로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단어를 의미가 담긴 숫자 벡터로 표현 (Google)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중요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의미 연산이 가능 — 'king − man + woman ≈ queen'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단어 단위 · 문맥(앞뒤 의미)을 잘 못 담음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 배울 '임베딩'의 출발점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역사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Transformer (2017) — Attention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논문 'Attention is All You Need'의 새 신경망 구조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문장 속 단어 간 관계를 한 번에·병렬로 파악 (attention)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의의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이전 방식(RNN)보다 빠르고 긴 문맥 처리 → 현대 LLM의 토대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지금의 GPT·Claude 모두 이 구조 위에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역사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GPT·BERT (2018~) — 사전학습 시대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생성형 — 다음 토큰 예측 (말 잇기)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BERT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이해형 — 빈칸 채우기 (문맥 파악)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패러다임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대규모 사전학습 → 작업별 미세조정 · 모델·데이터 키우기 시작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'사전학습'이라는 오늘의 핵심 개념이 자리잡음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역사 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GPT-3 → ChatGPT (2020·2022) — 규모와 정렬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GPT-3 (2020)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175B 파라미터 · few-shot — '규모의 힘' 입증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ChatGPT (2022.11)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정렬(RLHF) + 대화 인터페이스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의의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전문가 도구 → 누구나 쓰는 AI로 폭발적 대중화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능력(사전학습)과 말귀(정렬)가 합쳐진 순간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역사 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추론·멀티모달 (2024~) — 최신 흐름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추론 모델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바로 답하지 않고 단계적으로 '생각' (o1·DeepSeek-R1)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멀티모달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텍스트 + 이미지·음성까지 함께 처리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도구·반복을 붙여 '행동하는 AI' → Day 2 주제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 우리가 쓰는 모델들이 여기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개념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LLM이란 무엇인가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Large Language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방대한 텍스트로 학습한 대규모 신경망 — 언어를 생성·처리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 동작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지금까지의 텍스트로 '다음에 올 토큰'을 확률로 예측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'이해'가 아니라 '패턴'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의미를 아는 게 아니라 통계적 패턴을 재현하는 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예: '커피를 마시면 잠이 ___' 다음에 올 토큰을 확률로 고른다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동작 원리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입력에서 출력까지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토큰화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문장을 토큰(단어 조각)으로 분해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753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7185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7185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0901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901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901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다음 토큰의 확률 분포 계산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646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078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4078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794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샘플링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794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확률에 따라 토큰 1개 선택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3539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0971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0971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4687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87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반복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4687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붙이고 다시 예측 — 끝까지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 번에 한 토큰씩, 반복해서 생성 (autoregressive) — 이제 각 단계를 하나씩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동작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토큰화 — 텍스트를 토큰으로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토큰이란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단어 또는 단어 조각 (글자보다 크고 단어보다 작을 수 있음)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토큰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어휘를 효율적으로 다루기 위해 — 모든 단어를 외우지 않아도 됨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길이·비용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영어 ~4글자≈1토큰 · 한글은 더 잘게 → 토큰 수가 비용·길이를 결정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예: 'AI에이전트' → 여러 토큰으로 쪼개짐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동작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예측 — 다음 토큰의 확률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무엇을 계산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지금까지의 토큰을 보고 '다음에 올 토큰'의 확률 분포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'커피를 마시면 잠이 ___' → 안(0.6)·온다(0.2)·…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여기엔 '정답'이 아니라 '확률'만 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모델이 아는 건 사실이 아니라 '그럴듯함' — 환각의 뿌리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동작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샘플링 — 토큰 하나 선택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선택 방식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확률 분포에서 토큰 1개를 고름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결정적 vs 다양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가장 높은 것만? 또는 확률대로 무작위?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temperature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이 다양성을 조절하는 손잡이 → 뒤 '생성 제어'에서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같은 질문에 매번 다른 답이 나오는 이유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동작 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반복 — 끝까지 생성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이어가기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고른 토큰을 문장에 붙이고 → 다시 예측 (1~3 반복)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autoregressive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한 번에 한 토큰씩, 끝 신호까지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함의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긴 답일수록 앞에서의 작은 흔들림이 누적될 수 있음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그래서 긴 출력은 중간 점검·검증이 중요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학습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사전학습 (Pre-training)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방대한 텍스트로 자기지도 학습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웹·책·코드에서 '다음 토큰 맞히기'를 반복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무엇을 배우나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문법·세상 지식·추론 패턴·문체까지 광범위하게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한계의 씨앗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학습 시점 이후 정보는 모름 · 데이터 편향을 흡수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비유: 거대한 빈칸 채우기를 수십억 번 — 그 과정에서 지식이 '딸려' 학습된다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학습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정렬 (Alignment)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사전학습만으론 부족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'유용하고·안전하게·지시를 따르도록' 추가로 다듬음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instruction tuning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지시–응답 예시로 '시키는 대로' 하도록 미세조정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인간 피드백 (RLHF 등)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사람이 선호하는 답을 강화 — 도움되고 해롭지 않게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사례: InstructGPT(2022) — 정렬한 1.3B 답을 175B GPT-3보다 사람이 선호(~71%)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추론 모델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추론(사고)하는 모델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일반 생성 vs 추론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바로 답하지 않고, 단계적으로 '생각'한 뒤 답한다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언제 강한가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복잡한 문제 · 다단계 추론 · 코딩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트레이드오프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더 정확하지만 더 느리고 비싸다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사례: DeepSeek-R1(2025·오픈)·OpenAI o1→o3 — AIME 78%→96.7% (벤치마크는 빠르게 바뀜)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임베딩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임베딩 &amp; 의미 검색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임베딩이란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텍스트를 의미를 담은 숫자 벡터로 변환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의미 검색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글자가 달라도 '뜻이 비슷한' 문서를 찾음 (키워드 매칭의 한계 극복)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어디에 쓰나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방대한 문헌에서 관련 자료 검색 — 리서치 에이전트의 토대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키워드가 아니라 '의미'로 찾는다 · 사례: Etsy·Spotify 검색/추천이 임베딩 기반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검색 증강 생성 (RAG)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질문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사용자 질문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753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7185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7185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0901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901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901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관련 문서 찾기(임베딩)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646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078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4078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794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794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찾은 근거를 프롬프트에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3539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0971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0971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4687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87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생성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4687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근거 기반으로 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사례: OpenEvidence — 동료심사 문헌(NEJM·JAMA) 기반 의사용 Q&amp;A (약학 RAG 예)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프롬프트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프롬프트가 동작을 바꾼다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프롬프트 = 모델에 주는 입력 전체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지시 + 맥락 + 예시 + 데이터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좋은 프롬프트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명확한 목표 · 충분한 맥락 · 원하는 형식 명시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나쁜 프롬프트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모호·맥락 부족 → 엉뚱하거나 일반적인 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비교: '코딩 도와줘' vs 'CSV 항목별 합계 코드 만들고 실행·확인해줘'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프롬프트 기법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자주 쓰는 패턴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역할·맥락 부여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'너는 ~전문가' + 배경 → 답의 톤·깊이 조정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예시 제공 (few-shot)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원하는 입출력 예 2~3개 → 형식이 안정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단계적 사고 (CoT)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'단계별로 생각해줘' → 복잡한 추론 정확도↑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사례: GPT-3(2020) — 예시 몇 개(few-shot)만으로 번역·Q&amp;A 수행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생성 제어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같은 모델, 다른 출력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temperature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낮으면 결정적·일관, 높으면 다양·창의(불안정)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확률적 생성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같은 질문도 매번 다른 답이 나올 수 있다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재현성에의 함의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리서치엔 낮은 temperature가 유리 — 결과 안정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컨텍스트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컨텍스트 윈도우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 번에 볼 수 있는 토큰 한계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프롬프트+대화+자료가 이 한도 안에 들어가야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길어지면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비용↑·속도↓·중간 내용 놓침(lost in the middle)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에이전트와의 관련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외부 메모리·검색·도구로 한계를 보완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현재 Claude 최대 1M 토큰(≈책 여러 권) — 긴 문서·코드 통째 분석 (단 lost in the middle 주의)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핵심 균형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LLM의 능력과 한계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잘하는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요약·번역·분류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코드 생성·설명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텍스트 추출·재구성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브레인스토밍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주의할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환각 — 없는 사실 지어냄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최신·실시간 정보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정확한 계산·셈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일관된 장기 추론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주의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환각(hallucination) 바로 알기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그럴듯하지만 틀린 출력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출처·인용·수치를 자신있게 지어내기도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생기나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'그럴듯한 다음 토큰'을 생성할 뿐 사실 검증을 안 함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대응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출처 확인·검색 연동(RAG)·교차검증 → 리서치 에이전트의 존재 이유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실제 사례: 변호사가 ChatGPT 가짜 판례 인용→벌금(Mata v. Avianca, 2023) · 에어캐나다 챗봇이 없는 환불정책 지어내 배상(2024)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모델 선택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어떤 모델을 쓸까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크기 ↔ 성능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큰 모델 = 똑똑하지만 느리고 비쌈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작업에 맞게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간단한 작업엔 작고 빠른 모델, 어려운 작업엔 크고/추론 모델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Claude 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Opus(최상위) · Sonnet(균형) · Haiku(빠름·저비용)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참고 가격(~2026.6, 1M토큰 입력/출력): Opus $5/$25 · Sonnet $3/$15 · Haiku $1/$5 (변동)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브릿지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 → 에이전트로 가는 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단독의 한계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도구 없음 · 기억 없음 · 한 번의 응답으로 끝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RAG·검색을 루프로 = 에이전트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찾고 → 검증하고 → 종합 — 리서치 에이전트로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다음: Day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에이전트의 정의와 Claude Code 실습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오늘의 임베딩·RAG가 리서치 에이전트의 토대다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정리 및 다음 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핵심 정리</a:t>
            </a:r>
          </a:p>
        </p:txBody>
      </p:sp>
      <p:sp>
        <p:nvSpPr>
          <p:cNvPr id="10" name="Oval 9"/>
          <p:cNvSpPr/>
          <p:nvPr/>
        </p:nvSpPr>
        <p:spPr>
          <a:xfrm>
            <a:off x="566928" y="2359152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LLM의 핵심은 '다음 토큰 예측' — 확률적 생성이다</a:t>
            </a:r>
          </a:p>
        </p:txBody>
      </p:sp>
      <p:sp>
        <p:nvSpPr>
          <p:cNvPr id="12" name="Oval 11"/>
          <p:cNvSpPr/>
          <p:nvPr/>
        </p:nvSpPr>
        <p:spPr>
          <a:xfrm>
            <a:off x="566928" y="2999232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2608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임베딩·RAG로 외부 지식과 결합하면 환각↓·최신성↑ (리서치 에이전트의 토대)</a:t>
            </a:r>
          </a:p>
        </p:txBody>
      </p:sp>
      <p:sp>
        <p:nvSpPr>
          <p:cNvPr id="14" name="Oval 13"/>
          <p:cNvSpPr/>
          <p:nvPr/>
        </p:nvSpPr>
        <p:spPr>
          <a:xfrm>
            <a:off x="566928" y="3639312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LLM은 한계가 있다 → 도구·검색·반복(에이전트)이 필요하다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1783080"/>
            <a:ext cx="40690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0" y="201168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다음 과정 — Day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606040"/>
            <a:ext cx="35204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AI 에이전트의 정의(LLM+tools+loop)와 리서치 에이전트 개요를 배우고, Python과 Claude Code를 설치·설정합니다.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