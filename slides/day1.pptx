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2286000" cy="56692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DAY 1  ·  월요일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LLM의 원리와 이해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11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BD5E1"/>
                </a:solidFill>
                <a:latin typeface="NanumGothic"/>
                <a:ea typeface="NanumGothic"/>
                <a:cs typeface="NanumGothic"/>
              </a:rPr>
              <a:t>AI 에이전트의 핵심인 LLM의 작동 원리·프롬프트·한계를 이해한다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31596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담당 세션 (1)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754880"/>
            <a:ext cx="3429000" cy="1417320"/>
          </a:xfrm>
          <a:prstGeom prst="roundRect">
            <a:avLst/>
          </a:prstGeom>
          <a:solidFill>
            <a:srgbClr val="1B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9011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366F1"/>
                </a:solidFill>
                <a:latin typeface="NanumSquare"/>
                <a:ea typeface="NanumSquare"/>
                <a:cs typeface="NanumSquare"/>
              </a:rPr>
              <a:t>오후 특강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212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14:30–16:00 · 90분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31089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LLM의 원리와 이해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PROGRAM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전체 과정 로드맵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Day 1 · 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94560"/>
            <a:ext cx="2212848" cy="246888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DAY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월요일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LLM 원리와 이해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51960"/>
            <a:ext cx="18470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● 진행 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25496" y="2194560"/>
            <a:ext cx="221284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8376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DAY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화요일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에이전트 원리 + 클로드 코드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48072" y="2194560"/>
            <a:ext cx="221284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0952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DAY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수요일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미니 프로젝트 + 리서치 이론·팀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0648" y="2194560"/>
            <a:ext cx="221284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NanumSquare"/>
                <a:ea typeface="NanumSquare"/>
                <a:cs typeface="NanumSquare"/>
              </a:rPr>
              <a:t>DAY 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목요일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팀 리서치 — 기획·구현·실행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93224" y="2194560"/>
            <a:ext cx="221284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76104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43F5E"/>
                </a:solidFill>
                <a:latin typeface="NanumSquare"/>
                <a:ea typeface="NanumSquare"/>
                <a:cs typeface="NanumSquare"/>
              </a:rPr>
              <a:t>DAY 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금요일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76104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실행·분석 + 보고서·발표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029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진행 단계: </a:t>
            </a:r>
            <a:r>
              <a:rPr sz="13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이론 → 도구 → 실전 → 결과 → 발표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6366F1"/>
                </a:solidFill>
                <a:latin typeface="NanumSquare"/>
                <a:ea typeface="NanumSquare"/>
                <a:cs typeface="NanumSquare"/>
              </a:rPr>
              <a:t>오후 특강 2</a:t>
            </a:r>
            <a:r>
              <a:rPr sz="13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   14:30–16:00 · 90분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9748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LLM의 원리와 이해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NanumGothic"/>
                <a:ea typeface="NanumGothic"/>
                <a:cs typeface="NanumGothic"/>
              </a:rPr>
              <a:t>LLM이 무엇을 어떻게 하는지 — 토큰 예측·학습·프롬프트·한계를 이해한다.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023360"/>
            <a:ext cx="91440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오후 특강 2 · 세션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LLM의 원리와 이해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Day 1 · 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2680" y="457200"/>
            <a:ext cx="169164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12680" y="457200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90분 · 10 파트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이 세션에서 다룰 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" y="2267712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2677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1488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LLM이란 + 토큰·예측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25496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" y="2944368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9443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2825496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학습: 사전학습 · 정렬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02152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9224" y="3621024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36210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502152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추론(사고) 모델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178808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" y="4297680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42976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178808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임베딩 &amp; 의미 검색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855464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9224" y="4974336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" y="4974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855464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RAG — 검색 증강 생성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2148840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64224" y="2267712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4224" y="22677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21488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프롬프트 엔지니어링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2825496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64224" y="2944368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64224" y="29443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1152" y="2825496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생성 제어 · 컨텍스트 윈도우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502152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64224" y="3621024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64224" y="362102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31152" y="3502152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능력과 한계 · 환각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178808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64224" y="4297680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64224" y="42976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31152" y="4178808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모델 선택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4855464"/>
            <a:ext cx="5440680" cy="5669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64224" y="4974336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64224" y="4974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31152" y="4855464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LLM → 에이전트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학습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이 세션에서 다룰 것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Day 1 · 월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LLM의 작동 원리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토큰 예측 · 학습 · 추론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외부 지식과 결합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임베딩·의미 검색·RAG → 리서치 에이전트의 토대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제어와 한계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프롬프트 · 모델 선택 · 환각 등 주의점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LLM이란 무엇인가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Day 1 · 월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Large Language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방대한 텍스트로 학습한 대규모 신경망 — 언어를 생성·처리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핵심 동작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지금까지의 텍스트로 '다음에 올 토큰'을 확률로 예측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'이해'가 아니라 '패턴'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의미를 아는 게 아니라 통계적 패턴을 재현하는 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예: '커피를 마시면 잠이 ___' 다음에 올 토큰을 확률로 고른다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동작 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입력에서 출력까지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Day 1 · 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51760"/>
            <a:ext cx="254889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651760"/>
            <a:ext cx="2548890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44368"/>
            <a:ext cx="22745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366F1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10128"/>
            <a:ext cx="22745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토큰화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22192"/>
            <a:ext cx="22745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문장을 토큰(단어 조각)으로 분해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7530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6366F1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71850" y="2651760"/>
            <a:ext cx="254889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71850" y="2651760"/>
            <a:ext cx="2548890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9010" y="2944368"/>
            <a:ext cx="22745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366F1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9010" y="3310128"/>
            <a:ext cx="22745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예측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010" y="3822192"/>
            <a:ext cx="22745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다음 토큰의 확률 분포 계산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6460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6366F1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0780" y="2651760"/>
            <a:ext cx="254889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0780" y="2651760"/>
            <a:ext cx="2548890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7940" y="2944368"/>
            <a:ext cx="22745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366F1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7940" y="3310128"/>
            <a:ext cx="22745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샘플링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7940" y="3822192"/>
            <a:ext cx="22745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확률에 따라 토큰 1개 선택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5390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6366F1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09710" y="2651760"/>
            <a:ext cx="254889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09710" y="2651760"/>
            <a:ext cx="2548890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46870" y="2944368"/>
            <a:ext cx="22745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366F1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6870" y="3310128"/>
            <a:ext cx="22745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반복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6870" y="3822192"/>
            <a:ext cx="22745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붙이고 다시 예측 — 끝까지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02920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02920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한 번에 한 토큰씩, 반복해서 생성한다 (autoregressive)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학습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사전학습 (Pre-training)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Day 1 · 월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방대한 텍스트로 자기지도 학습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웹·책·코드에서 '다음 토큰 맞히기'를 반복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무엇을 배우나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문법·세상 지식·추론 패턴·문체까지 광범위하게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한계의 씨앗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학습 시점 이후 정보는 모름 · 데이터 편향을 흡수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비유: 거대한 빈칸 채우기를 수십억 번 — 그 과정에서 지식이 '딸려' 학습된다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학습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정렬 (Alignment)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Day 1 · 월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사전학습만으론 부족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'유용하고·안전하게·지시를 따르도록' 추가로 다듬음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instruction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지시–응답 예시로 '시키는 대로' 하도록 미세조정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인간 피드백 (RLHF 등)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사람이 선호하는 답을 강화 — 도움되고 해롭지 않게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사전학습=박학다식 / 정렬=지시 잘 따르는 조수로 길들이기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추론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추론(사고)하는 모델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Day 1 · 월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일반 생성 vs 추론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바로 답하지 않고, 단계적으로 '생각'한 뒤 답한다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언제 강한가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복잡한 문제 · 다단계 추론 · 코딩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트레이드오프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더 정확하지만 더 느리고 비싸다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임베딩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임베딩 &amp; 의미 검색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Day 1 · 월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임베딩이란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텍스트를 의미를 담은 숫자 벡터로 변환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의미 검색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글자가 달라도 '뜻이 비슷한' 문서를 찾음 (키워드 매칭의 한계 극복)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어디에 쓰나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방대한 문헌에서 관련 자료 검색 — 리서치 에이전트의 토대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키워드가 아니라 '의미'로 찾는다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검색 증강 생성 (RAG)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Day 1 · 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51760"/>
            <a:ext cx="254889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651760"/>
            <a:ext cx="2548890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44368"/>
            <a:ext cx="22745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366F1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10128"/>
            <a:ext cx="22745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질문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22192"/>
            <a:ext cx="22745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사용자 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7530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6366F1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71850" y="2651760"/>
            <a:ext cx="254889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71850" y="2651760"/>
            <a:ext cx="2548890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9010" y="2944368"/>
            <a:ext cx="22745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366F1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9010" y="3310128"/>
            <a:ext cx="22745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검색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010" y="3822192"/>
            <a:ext cx="22745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관련 문서 찾기(임베딩)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6460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6366F1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0780" y="2651760"/>
            <a:ext cx="254889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0780" y="2651760"/>
            <a:ext cx="2548890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7940" y="2944368"/>
            <a:ext cx="22745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366F1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7940" y="3310128"/>
            <a:ext cx="22745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주입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7940" y="3822192"/>
            <a:ext cx="22745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찾은 근거를 프롬프트에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5390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6366F1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09710" y="2651760"/>
            <a:ext cx="254889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09710" y="2651760"/>
            <a:ext cx="2548890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46870" y="2944368"/>
            <a:ext cx="22745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366F1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6870" y="3310128"/>
            <a:ext cx="22745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생성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6870" y="3822192"/>
            <a:ext cx="22745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근거 기반으로 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02920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02920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외부 지식을 붙여 환각↓·최신성↑ — 리서치 에이전트의 핵심 패턴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프롬프트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프롬프트가 동작을 바꾼다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Day 1 · 월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프롬프트 = 모델에 주는 입력 전체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지시 + 맥락 + 예시 + 데이터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좋은 프롬프트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명확한 목표 · 충분한 맥락 · 원하는 형식 명시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나쁜 프롬프트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모호·맥락 부족 → 엉뚱하거나 일반적인 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비교: '코딩 도와줘' vs 'CSV 항목별 합계 코드 만들고 실행·확인해줘'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프롬프트 기법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자주 쓰는 패턴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Day 1 · 월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역할·맥락 부여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'너는 ~전문가' + 배경 → 답의 톤·깊이 조정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예시 제공 (few-shot)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원하는 입출력 예 2~3개 → 형식이 안정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단계적 사고 (CoT)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'단계별로 생각해줘' → 복잡한 추론 정확도↑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생성 제어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같은 모델, 다른 출력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Day 1 · 월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temperature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낮으면 결정적·일관, 높으면 다양·창의(불안정)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확률적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같은 질문도 매번 다른 답이 나올 수 있다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재현성에의 함의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리서치엔 낮은 temperature가 유리 — 결과 안정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컨텍스트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컨텍스트 윈도우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Day 1 · 월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한 번에 볼 수 있는 토큰 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프롬프트+대화+자료가 이 한도 안에 들어가야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길어지면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비용↑·속도↓·중간 내용 놓침(lost in the middle)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에이전트와의 관련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외부 메모리·검색·도구로 한계를 보완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긴 문서를 통째로 넣기보다, 검색으로 필요한 부분만 → RAG의 이유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핵심 균형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LLM의 능력과 한계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Day 1 · 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54406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5440680" cy="64008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잘하는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요약·번역·분류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6440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코드 생성·설명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31336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텍스트 추출·재구성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98264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브레인스토밍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828800"/>
            <a:ext cx="54406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1828800"/>
            <a:ext cx="5440680" cy="640080"/>
          </a:xfrm>
          <a:prstGeom prst="round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28800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주의할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9748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환각 — 없는 사실 지어냄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최신·실시간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831336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정확한 계산·셈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98264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일관된 장기 추론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주의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환각(hallucination) 바로 알기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Day 1 · 월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그럴듯하지만 틀린 출력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출처·인용·수치를 자신있게 지어내기도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왜 생기나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'그럴듯한 다음 토큰'을 생성할 뿐 사실 검증을 안 함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대응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출처 확인·검색 연동(RAG)·교차검증 → 리서치 에이전트의 존재 이유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특히 출처·인용·수치를 지어낼 때 위험 — 반드시 교차확인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모델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어떤 모델을 쓸까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Day 1 · 월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크기 ↔ 성능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큰 모델 = 똑똑하지만 느리고 비쌈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작업에 맞게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간단한 작업엔 작고 빠른 모델, 어려운 작업엔 크고/추론 모델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Claude 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Opus(최상위) · Sonnet(균형) · Haiku(빠름·저비용)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브릿지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LLM → 에이전트로 가는 길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Day 1 · 월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LLM 단독의 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도구 없음 · 기억 없음 · 한 번의 응답으로 끝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RAG·검색을 루프로 = 에이전트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찾고 → 검증하고 → 종합 — 리서치 에이전트로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다음: Day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에이전트의 정의와 Claude Code 실습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오늘의 임베딩·RAG가 리서치 에이전트의 토대다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핵심 정리 및 다음 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366F1"/>
                </a:solidFill>
                <a:latin typeface="NanumGothic"/>
                <a:ea typeface="NanumGothic"/>
                <a:cs typeface="NanumGothic"/>
              </a:rPr>
              <a:t>Day 1 · 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6366F1"/>
                </a:solidFill>
                <a:latin typeface="NanumSquare"/>
                <a:ea typeface="NanumSquare"/>
                <a:cs typeface="NanumSquare"/>
              </a:rPr>
              <a:t>핵심 정리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2359152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LLM의 핵심은 '다음 토큰 예측' — 확률적 생성이다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2999232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2608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임베딩·RAG로 외부 지식과 결합하면 환각↓·최신성↑ (리서치 에이전트의 토대)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3639312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LLM은 한계가 있다 → 도구·검색·반복(에이전트)이 필요하다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783080"/>
            <a:ext cx="40690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0116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다음 과정 — Day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06040"/>
            <a:ext cx="35204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AI 에이전트의 정의(LLM+tools+loop)와 리서치 에이전트 개요를 배우고, Python과 Claude Code를 설치·설정합니다.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