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2286000" cy="566928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1  ·  월요일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LLM의 원리와 이해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611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AI 에이전트의 핵심인 LLM의 작동 원리·프롬프트·한계를 이해한다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31596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담당 세션 (1)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오후 특강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14:30–16:00 · 90분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LLM의 원리와 이해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1 / 42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PROGRAM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전체 과정 로드맵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94560"/>
            <a:ext cx="2212848" cy="246888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E2E8F0"/>
                </a:solidFill>
                <a:latin typeface="NanumGothic"/>
                <a:ea typeface="NanumGothic"/>
                <a:cs typeface="NanumGothic"/>
              </a:rPr>
              <a:t>월요일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LLM 원리와 이해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251960"/>
            <a:ext cx="18470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● 진행 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25496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08376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DAY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화요일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08376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원리 + 클로드 코드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48072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0952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DAY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수요일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0952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미니 프로젝트 + 리서치 이론·팀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70648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53528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DAY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목요일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3528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리서치 — 기획·구현·실행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93224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76104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DAY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금요일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76104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실행·분석 + 보고서·발표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0292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진행 단계: </a:t>
            </a:r>
            <a:r>
              <a:rPr sz="13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이론 → 도구 → 실전 → 결과 → 발표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 / 42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오후 특강 2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14:30–16:00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LLM의 원리와 이해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LLM이 무엇을 어떻게 하는지 — 토큰 예측·학습·프롬프트·한계를 이해한다.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3 / 42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오후 특강 2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LLM의 원리와 이해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11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언어 모델 간단 역사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44368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LLM이란 + 토큰·예측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21024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학습: 사전학습 · 정렬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9224" y="4297680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6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추론(사고) 모델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855464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9224" y="4974336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" y="49743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16152" y="4855464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임베딩 &amp; 의미 검색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53212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49224" y="5650992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" y="565099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16152" y="553212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RAG — 검색 증강 생성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364224" y="2267712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4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31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프롬프트 엔지니어링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17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364224" y="2944368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64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31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생성 제어 · 컨텍스트 윈도우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17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364224" y="3621024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64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31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능력과 한계 · 환각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17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364224" y="4297680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64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31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모델 선택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217920" y="4855464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364224" y="4974336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64224" y="49743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31152" y="4855464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→ 에이전트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 / 42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학습 목표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이 세션에서 다룰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LLM의 작동 원리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토큰 예측 · 학습 · 추론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외부 지식과 결합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임베딩·의미 검색·RAG → 리서치 에이전트의 토대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제어와 한계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프롬프트 · 모델 선택 · 환각 등 주의점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5 / 42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역사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언어 모델 간단 역사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197510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word2vec (2013)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단어를 벡터로 — 임베딩 시작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3744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98064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98064" y="2651760"/>
            <a:ext cx="197510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35224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35224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Transformer (2017)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5224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'Attention is All You Need' — 현대 LLM 구조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18888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93208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93208" y="2651760"/>
            <a:ext cx="197510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8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8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GPT·BERT (2018~)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사전학습 대형화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4032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88352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88352" y="2651760"/>
            <a:ext cx="197510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25512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5512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GPT-3→ChatGPT (2020·2022)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25512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규모 + 정렬로 대중화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83496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683496" y="2651760"/>
            <a:ext cx="197510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0656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20656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추론·멀티모달 (2024~)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0656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o1·DeepSeek-R1 등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초기의 통계 기반 모델에서 신경망을 거쳐 Transformer로 도약한 흐름이며, 이어지는 슬라이드에서 각 단계를 차례로 살펴본다.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6 / 42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역사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word2vec (2013) — 단어를 벡터로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단어를 의미가 담긴 숫자 벡터로 표현 (Google)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중요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의미 연산이 가능 — 'king − man + woman ≈ queen'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단어 단위 · 문맥(앞뒤 의미)을 잘 못 담음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 학습할 '임베딩' 개념이 바로 이 시기에서 출발한다.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7 / 42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역사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Transformer (2017) — Attention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논문 'Attention is All You Need'의 새 신경망 구조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문장 속 단어 간 관계를 한 번에·병렬로 파악 (attention)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의의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이전 방식(RNN)보다 빠르고 긴 문맥 처리 → 현대 LLM의 토대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현재의 GPT와 Claude를 비롯한 주요 모델은 모두 이 Transformer 구조 위에 만들어져 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8 / 42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역사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GPT·BERT (2018~) — 사전학습 시대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생성형 — 다음 토큰 예측 (말 잇기)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BERT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이해형 — 빈칸 채우기 (문맥 파악)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패러다임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대규모 사전학습 → 작업별 미세조정 · 모델·데이터 키우기 시작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오늘의 핵심 개념인 '사전학습'이 이 시기에 자리 잡았다.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9 / 42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역사 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GPT-3 → ChatGPT (2020·2022) — 규모와 정렬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GPT-3 (2020)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175B 파라미터 · few-shot — '규모의 힘' 입증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ChatGPT (2022.11)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정렬(RLHF) + 대화 인터페이스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의의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전문가 도구 → 누구나 쓰는 AI로 폭발적 대중화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방대한 능력을 갖춘 사전학습과 지시를 따르게 하는 정렬이 결합되어 대중화가 이루어진 시점이다.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10 / 42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역사 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추론·멀티모달 (2024~) — 최신 흐름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추론 모델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바로 답하지 않고 단계적으로 '생각' (o1·DeepSeek-R1)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멀티모달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텍스트 + 이미지·음성까지 함께 처리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도구·반복을 붙여 '행동하는 AI' → Day 2 주제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오늘날 우리가 사용하는 모델들이 바로 이 단계에 해당한다.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11 / 42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개념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LLM이란 무엇인가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Large Language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방대한 텍스트로 학습한 대규모 신경망 — 언어를 생성·처리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 동작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지금까지의 텍스트로 '다음에 올 토큰'을 확률로 예측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'이해'가 아니라 '패턴'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의미를 아는 게 아니라 통계적 패턴을 재현하는 것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'커피를 마시면 잠이 ___' → 다음에 올 토큰을 확률로 고른다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LLM은 의미를 이해하는 것이 아니라 통계적으로 '다음 토큰'을 예측한다는 점을 기억해야 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12 / 42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동작 원리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입력에서 출력까지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토큰화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문장을 토큰(단어 조각)으로 분해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9753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7185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7185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0901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901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901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다음 토큰의 확률 분포 계산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646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078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078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794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794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샘플링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확률에 따라 토큰 1개 선택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3539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0971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0971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4687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687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반복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87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붙이고 다시 예측 — 끝까지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 번에 한 토큰씩 예측하여 반복적으로 생성하는 방식(autoregressive)이며, 이어서 각 단계를 차례로 살펴본다.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13 / 42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동작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토큰화 — 텍스트를 토큰으로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토큰이란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단어 또는 단어 조각 (글자보다 크고 단어보다 작을 수 있음)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토큰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어휘를 효율적으로 다루기 위해 — 모든 단어를 외우지 않아도 됨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길이·비용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영어 ~4글자≈1토큰 · 한글은 더 잘게 → 토큰 수가 비용·길이를 결정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'AI에이전트' → 여러 토큰으로 쪼개짐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토큰 수가 곧 입력의 길이와 비용을 결정하며, 한글은 영어보다 더 많은 토큰을 사용한다.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14 / 42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동작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예측 — 다음 토큰의 확률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무엇을 계산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지금까지의 토큰을 보고 '다음에 올 토큰'의 확률 분포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'커피를 마시면 잠이 ___' → 안(0.6)·온다(0.2)·…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여기엔 '정답'이 아니라 '확률'만 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모델이 다루는 것은 사실이 아니라 '그럴듯함'이며, 이것이 환각이 발생하는 근본 원인이다.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15 / 42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동작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샘플링 — 토큰 하나 선택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선택 방식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확률 분포에서 토큰 1개를 고름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결정적 vs 다양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가장 높은 것만? 또는 확률대로 무작위?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temperature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이 다양성을 조절하는 손잡이 → 뒤 '생성 제어'에서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동일한 질문에도 매번 다른 답이 나오는 이유가 바로 이 확률적 선택에 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16 / 42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동작 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반복 — 끝까지 생성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이어가기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고른 토큰을 문장에 붙이고 → 다시 예측 (1~3 반복)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autoregressive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한 번에 한 토큰씩, 끝 신호까지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함의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긴 답일수록 앞에서의 작은 흔들림이 누적될 수 있음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따라서 출력이 길어질수록 중간 점검과 검증이 더욱 중요해진다.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17 / 42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학습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사전학습 (Pre-training)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방대한 텍스트로 자기지도 학습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웹·책·코드에서 '다음 토큰 맞히기'를 반복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무엇을 배우나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문법·세상 지식·추론 패턴·문체까지 광범위하게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한계의 씨앗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학습 시점 이후 정보는 모름 · 데이터 편향을 흡수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비유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거대한 빈칸 채우기를 수십억 번 — 그 과정에서 지식이 '딸려' 학습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학습이 이루어진 시점과 데이터의 편향이 모델의 한계로 그대로 남는다.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18 / 42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학습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정렬 (Alignment)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사전학습만으론 부족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'유용하고·안전하게·지시를 따르도록' 추가로 다듬음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instruction tuning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지시–응답 예시로 '시키는 대로' 하도록 미세조정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인간 피드백 (RLHF 등)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사람이 선호하는 답을 강화 — 도움되고 해롭지 않게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InstructGPT(2022) — 정렬한 1.3B 답을 175B GPT-3보다 사람이 선호(~71%)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기본 능력이 같더라도 정렬 과정이 '지시를 따르는 능력'을 만들어 낸다.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19 / 42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정렬 3단계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정렬은 어떻게 하나 (RLHF)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350520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350520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323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3230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① SFT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3230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지시–응답 예시로 미세조정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5384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8160" y="2651760"/>
            <a:ext cx="350520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8160" y="2651760"/>
            <a:ext cx="350520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5320" y="2944368"/>
            <a:ext cx="323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5320" y="3310128"/>
            <a:ext cx="3230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② 보상 모델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5320" y="3822192"/>
            <a:ext cx="3230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사람 선호로 '점수기' 학습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908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53400" y="2651760"/>
            <a:ext cx="350520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53400" y="2651760"/>
            <a:ext cx="350520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90560" y="2944368"/>
            <a:ext cx="323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0560" y="3310128"/>
            <a:ext cx="3230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③ 강화학습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0560" y="3822192"/>
            <a:ext cx="3230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점수기로 좋은 답 쪽으로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이어지는 슬라이드에서 정렬의 세 단계를 차례로 살펴본다.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20 / 42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정렬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SFT — 지시 따라 하기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'지시 → 좋은 응답' 예시를 모아 모델을 미세조정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효과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질문에 '말 잇기'가 아니라 '대답'을 하게 됨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비유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모범답안을 따라 쓰며 배우는 단계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21 / 42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정렬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보상 모델 — '좋은 답' 점수기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한 질문에 여러 답을 만들고, 사람이 좋은 순서로 순위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학습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그 선호를 흉내내는 '점수 매기는 모델'을 따로 학습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사람이 매번 평가할 수 없으니 자동 채점기를 만든다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22 / 42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정렬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강화학습 — 점수 높은 쪽으로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보상 모델 점수가 높아지도록 본 모델을 조금씩 조정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유용·안전·지시 이행이 강화됨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과하면 아부하거나 뻔한 답만 — 균형 필요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23 / 42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추론 모델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추론(사고)하는 모델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일반 생성 vs 추론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바로 답하지 않고, 단계적으로 '생각'한 뒤 답한다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언제 강한가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복잡한 문제 · 다단계 추론 · 코딩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트레이드오프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더 정확하지만 더 느리고 비싸다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DeepSeek-R1(2025·오픈)·OpenAI o1→o3 — AIME 78%→96.7%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벤치마크 수치는 빠르게 갱신되므로 강의 시점을 기준으로 다시 확인하는 것이 좋다.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24 / 42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임베딩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임베딩 &amp; 의미 검색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임베딩이란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텍스트를 의미를 담은 숫자 벡터로 변환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의미 검색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글자가 달라도 '뜻이 비슷한' 문서를 찾음 (키워드 매칭의 한계 극복)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어디에 쓰나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방대한 문헌에서 관련 자료 검색 — 리서치 에이전트의 토대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Etsy·Spotify 검색/추천이 임베딩 기반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임베딩은 키워드의 일치가 아니라 '의미'의 유사성으로 자료를 찾는다.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25 / 42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RAG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검색 증강 생성 (RAG)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질문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사용자 질문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9753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7185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7185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0901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901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901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관련 문서 찾기(임베딩)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646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078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078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794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794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찾은 근거를 프롬프트에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3539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0971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0971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4687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687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생성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87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근거 기반으로 답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외부 지식을 결합해 환각을 줄이고 최신성을 높이는 방식이며, 이어서 각 단계를 차례로 살펴본다.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26 / 42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RAG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질문 — 무엇을 묻나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입력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사용자의 질문이 출발점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필요시 분해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큰 질문이면 검색 가능한 작은 질의로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목표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'무슨 근거를 찾아야 하나'를 정한다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27 / 42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RAG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검색 — 관련 문서 찾기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질문을 임베딩해 '의미가 가까운' 문서를 검색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대상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문서 폴더·DB·웹 등 (이번 프로젝트는 로컬 corpus)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관련 문단 몇 개 + 출처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 학습한 임베딩이 바로 이 검색 단계에서 활용된다.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28 / 42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RAG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주입 — 근거를 프롬프트에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찾은 문단을 프롬프트 안에 같이 넣어줌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효과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모델이 '기억'이 아니라 '눈앞의 근거'로 답하게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너무 많이 넣으면 컨텍스트 한계·비용↑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29 / 42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RAG 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생성 — 근거 기반 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주입된 근거를 바탕으로 답 생성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출처를 함께 제시 → 검증 가능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효과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환각↓ · 최신·전문 정보 반영↑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OpenEvidence — 동료심사 문헌(NEJM·JAMA) 기반 의사용 Q&amp;A (약학 RAG)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근거에 기반해 답하는 이 방식이 리서치 에이전트의 핵심 패턴이다.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30 / 42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프롬프트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프롬프트가 동작을 바꾼다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프롬프트 = 모델에 주는 입력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지시 + 맥락 + 예시 + 데이터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좋은 프롬프트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명확한 목표 · 충분한 맥락 · 원하는 형식 명시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나쁜 프롬프트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모호·맥락 부족 → 엉뚱하거나 일반적인 답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비교 예시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'코딩 도와줘' vs 'CSV 항목별 합계 코드 만들고 실행·확인해줘'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같은 모델이라도 프롬프트의 구성이 출력의 품질을 좌우한다.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31 / 42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프롬프트 기법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자주 쓰는 패턴 — 3가지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역할·맥락 부여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누가·무엇을·왜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예시 제공 (few-shot)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원하는 입출력 예를 보여주기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단계적 사고 (CoT)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단계별로 생각하게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GPT-3(2020) — 예시 몇 개(few-shot)만으로 번역·Q&amp;A 수행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이어지는 슬라이드에서 세 가지 기법을 하나씩 살펴본다.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32 / 42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기법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역할·맥락 부여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'너는 약학 전문가야' + 상황·목적·대상 독자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효과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답의 톤·깊이·용어 수준이 맞춰짐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'비전공자에게 설명하듯' vs '전문가용으로'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33 / 42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기법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예시 제공 (few-shot)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원하는 입력→출력 예를 2~3개 보여준 뒤 본 작업 요청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효과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형식·스타일이 안정 (말로 설명하기 어려운 형식에 특히)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표 형식 예시 2개 → 새 데이터도 같은 표로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34 / 42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기법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단계적 사고 (CoT)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'단계별로 생각해줘' / '근거를 먼저 정리한 뒤 답해줘'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효과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복잡한 추론·계산의 정확도↑ (생각을 펼치게)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간단한 작업엔 굳이 — 길어지고 느려짐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35 / 42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생성 제어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같은 모델, 다른 출력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temperature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낮으면 결정적·일관, 높으면 다양·창의(불안정)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확률적 생성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같은 질문도 매번 다른 답이 나올 수 있다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재현성에의 함의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리서치엔 낮은 temperature가 유리 — 결과 안정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36 / 42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컨텍스트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컨텍스트 윈도우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 번에 볼 수 있는 토큰 한계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프롬프트+대화+자료가 이 한도 안에 들어가야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길어지면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비용↑·속도↓·중간 내용 놓침(lost in the middle)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에이전트와의 관련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외부 메모리·검색·도구로 한계를 보완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현재 Claude는 최대 100만 토큰(책 여러 권 분량)을 처리하여 긴 문서나 코드를 통째로 분석할 수 있으나, 입력이 길수록 중간 내용을 놓칠 수 있음에 유의해야 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37 / 42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핵심 균형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LLM의 능력과 한계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잘하는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요약·번역·분류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코드 생성·설명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텍스트 추출·재구성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브레인스토밍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주의할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환각 — 없는 사실 지어냄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최신·실시간 정보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정확한 계산·셈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일관된 장기 추론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38 / 42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주의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환각(hallucination) 바로 알기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그럴듯하지만 틀린 출력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출처·인용·수치를 자신있게 지어내기도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생기나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'그럴듯한 다음 토큰'을 생성할 뿐 사실 검증을 안 함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대응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출처 확인·검색 연동(RAG)·교차검증 → 리서치 에이전트의 존재 이유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실제 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변호사가 ChatGPT 가짜 판례 인용→벌금(Mata v. Avianca, 2023) · 에어캐나다 챗봇이 없는 환불정책 지어내 배상(2024)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그럴듯함은 사실과 다르므로, 중요한 내용은 반드시 출처로 교차확인해야 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39 / 42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모델 선택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어떤 모델을 쓸까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크기 ↔ 성능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큰 모델 = 똑똑하지만 느리고 비쌈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작업에 맞게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간단한 작업엔 작고 빠른 모델, 어려운 작업엔 크고/추론 모델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Claude 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Opus(최상위) · Sonnet(균형) · Haiku(빠름·저비용)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참고로 2026년 6월 기준 100만 토큰당 가격은 Opus가 입력 5달러·출력 25달러, Sonnet이 3·15달러, Haiku가 1·5달러이며, 가격은 변동될 수 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40 / 42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브릿지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 → 에이전트로 가는 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단독의 한계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도구 없음 · 기억 없음 · 한 번의 응답으로 끝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RAG·검색을 루프로 = 에이전트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찾고 → 검증하고 → 종합 — 리서치 에이전트로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다음: Day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에이전트의 정의와 Claude Code 실습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 학습한 임베딩과 RAG가 리서치 에이전트의 토대가 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41 / 42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정리 및 다음 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핵심 정리</a:t>
            </a:r>
          </a:p>
        </p:txBody>
      </p:sp>
      <p:sp>
        <p:nvSpPr>
          <p:cNvPr id="9" name="Oval 8"/>
          <p:cNvSpPr/>
          <p:nvPr/>
        </p:nvSpPr>
        <p:spPr>
          <a:xfrm>
            <a:off x="566928" y="2359152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28600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LLM의 핵심은 '다음 토큰 예측' — 확률적 생성이다</a:t>
            </a:r>
          </a:p>
        </p:txBody>
      </p:sp>
      <p:sp>
        <p:nvSpPr>
          <p:cNvPr id="11" name="Oval 10"/>
          <p:cNvSpPr/>
          <p:nvPr/>
        </p:nvSpPr>
        <p:spPr>
          <a:xfrm>
            <a:off x="566928" y="2999232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92608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임베딩·RAG로 외부 지식과 결합하면 환각↓·최신성↑ (리서치 에이전트의 토대)</a:t>
            </a:r>
          </a:p>
        </p:txBody>
      </p:sp>
      <p:sp>
        <p:nvSpPr>
          <p:cNvPr id="13" name="Oval 12"/>
          <p:cNvSpPr/>
          <p:nvPr/>
        </p:nvSpPr>
        <p:spPr>
          <a:xfrm>
            <a:off x="566928" y="3639312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5661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LLM은 한계가 있다 → 도구·검색·반복(에이전트)이 필요하다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0" y="1783080"/>
            <a:ext cx="40690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201168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다음 과정 — Day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606040"/>
            <a:ext cx="35204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AI 에이전트의 정의(LLM+tools+loop)와 리서치 에이전트 개요를 배우고, Python과 Claude Code를 설치·설정합니다.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42 / 42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